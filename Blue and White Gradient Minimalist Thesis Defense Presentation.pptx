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9" r:id="rId6"/>
    <p:sldId id="260" r:id="rId7"/>
    <p:sldId id="261" r:id="rId8"/>
    <p:sldId id="264" r:id="rId9"/>
    <p:sldId id="265" r:id="rId10"/>
    <p:sldId id="266" r:id="rId11"/>
    <p:sldId id="270" r:id="rId12"/>
    <p:sldId id="268" r:id="rId13"/>
  </p:sldIdLst>
  <p:sldSz cx="18288000" cy="10287000"/>
  <p:notesSz cx="6858000" cy="9144000"/>
  <p:embeddedFontLst>
    <p:embeddedFont>
      <p:font typeface="TT Commons Pro Expande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1152" y="-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url?sa=E&amp;q=https%3A%2F%2Fdoi.org%2F10.1016%2Fj.ajodo.2023.08.003" TargetMode="External"/><Relationship Id="rId3" Type="http://schemas.openxmlformats.org/officeDocument/2006/relationships/hyperlink" Target="https://www.google.com/url?sa=E&amp;q=https%3A%2F%2Fdoi.org%2F10.3390%2Fapp14177593" TargetMode="External"/><Relationship Id="rId7" Type="http://schemas.openxmlformats.org/officeDocument/2006/relationships/hyperlink" Target="https://www.google.com/url?sa=E&amp;q=https%3A%2F%2Fdoi.org%2F10.33003%2Ffjs-2023-0706-210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oogle.com/url?sa=E&amp;q=https%3A%2F%2Fdoi.org%2F10.5539%2Fhes.v10n4p12" TargetMode="External"/><Relationship Id="rId11" Type="http://schemas.openxmlformats.org/officeDocument/2006/relationships/image" Target="../media/image3.jpeg"/><Relationship Id="rId5" Type="http://schemas.openxmlformats.org/officeDocument/2006/relationships/hyperlink" Target="https://www.google.com/url?sa=E&amp;q=https%3A%2F%2Fdoi.org%2F10.58653%2Fnche.v11i2.5" TargetMode="External"/><Relationship Id="rId10" Type="http://schemas.openxmlformats.org/officeDocument/2006/relationships/hyperlink" Target="https://www.google.com/url?sa=E&amp;q=https%3A%2F%2Fhal.science%2Fhal-05102483v1" TargetMode="External"/><Relationship Id="rId4" Type="http://schemas.openxmlformats.org/officeDocument/2006/relationships/hyperlink" Target="https://www.google.com/url?sa=E&amp;q=https%3A%2F%2Fdoi.org%2F10.5334%2Fdsj-2019-014" TargetMode="External"/><Relationship Id="rId9" Type="http://schemas.openxmlformats.org/officeDocument/2006/relationships/hyperlink" Target="https://www.google.com/url?sa=E&amp;q=https%3A%2F%2Fdoi.org%2F10.1007%2Fs44163-023-00079-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16472">
            <a:off x="12138332" y="3535728"/>
            <a:ext cx="8142234" cy="9884351"/>
          </a:xfrm>
          <a:custGeom>
            <a:avLst/>
            <a:gdLst/>
            <a:ahLst/>
            <a:cxnLst/>
            <a:rect l="l" t="t" r="r" b="b"/>
            <a:pathLst>
              <a:path w="8142234" h="9884351">
                <a:moveTo>
                  <a:pt x="0" y="0"/>
                </a:moveTo>
                <a:lnTo>
                  <a:pt x="8142234" y="0"/>
                </a:lnTo>
                <a:lnTo>
                  <a:pt x="8142234" y="9884351"/>
                </a:lnTo>
                <a:lnTo>
                  <a:pt x="0" y="9884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819234">
            <a:off x="-3592445" y="-2729105"/>
            <a:ext cx="12414120" cy="14187565"/>
          </a:xfrm>
          <a:custGeom>
            <a:avLst/>
            <a:gdLst/>
            <a:ahLst/>
            <a:cxnLst/>
            <a:rect l="l" t="t" r="r" b="b"/>
            <a:pathLst>
              <a:path w="12414120" h="14187565">
                <a:moveTo>
                  <a:pt x="0" y="0"/>
                </a:moveTo>
                <a:lnTo>
                  <a:pt x="12414119" y="0"/>
                </a:lnTo>
                <a:lnTo>
                  <a:pt x="12414119" y="14187565"/>
                </a:lnTo>
                <a:lnTo>
                  <a:pt x="0" y="14187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1" name="Picture 10" descr="Abubakar Tafawa Balewa University in Nigeria : Reviews &amp; Rankings ...">
            <a:extLst>
              <a:ext uri="{FF2B5EF4-FFF2-40B4-BE49-F238E27FC236}">
                <a16:creationId xmlns:a16="http://schemas.microsoft.com/office/drawing/2014/main" id="{5B5EFEA5-B4A2-288E-AD99-98C3D6B1C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90500"/>
            <a:ext cx="2590800" cy="238744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470D58-8E79-394E-86F7-ACBC798C3CBA}"/>
              </a:ext>
            </a:extLst>
          </p:cNvPr>
          <p:cNvSpPr txBox="1">
            <a:spLocks/>
          </p:cNvSpPr>
          <p:nvPr/>
        </p:nvSpPr>
        <p:spPr>
          <a:xfrm>
            <a:off x="2895600" y="999135"/>
            <a:ext cx="13030200" cy="81829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b="1" dirty="0"/>
              <a:t>AN ENSEMBLED MACHINE LEARNING MODEL FOR PREDICTION OF STUDENTS DROPOUT IN NIGERIAN UNIVERSITIES</a:t>
            </a:r>
            <a:br>
              <a:rPr lang="en-GB" sz="36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</a:br>
            <a:r>
              <a:rPr lang="en-GB" sz="3600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 IYIMOGA JOSEPH NANA</a:t>
            </a:r>
          </a:p>
          <a:p>
            <a:pPr>
              <a:lnSpc>
                <a:spcPct val="200000"/>
              </a:lnSpc>
            </a:pPr>
            <a:r>
              <a:rPr lang="en-GB" sz="36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20/61871U/1</a:t>
            </a:r>
            <a:br>
              <a:rPr lang="en-GB" sz="3600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</a:br>
            <a:r>
              <a:rPr lang="en-GB" sz="36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 </a:t>
            </a:r>
            <a:r>
              <a:rPr lang="en-GB" sz="3600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DEPARTMENT OF COMPUTER SCIENCE</a:t>
            </a:r>
          </a:p>
          <a:p>
            <a:pPr>
              <a:lnSpc>
                <a:spcPct val="200000"/>
              </a:lnSpc>
            </a:pPr>
            <a:r>
              <a:rPr lang="en-GB" sz="4000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 FACULTY OF COMPUTING, ATBU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258874">
            <a:off x="10562869" y="-6408408"/>
            <a:ext cx="14458560" cy="16524069"/>
          </a:xfrm>
          <a:custGeom>
            <a:avLst/>
            <a:gdLst/>
            <a:ahLst/>
            <a:cxnLst/>
            <a:rect l="l" t="t" r="r" b="b"/>
            <a:pathLst>
              <a:path w="14458560" h="16524069">
                <a:moveTo>
                  <a:pt x="0" y="0"/>
                </a:moveTo>
                <a:lnTo>
                  <a:pt x="14458560" y="0"/>
                </a:lnTo>
                <a:lnTo>
                  <a:pt x="14458560" y="16524069"/>
                </a:lnTo>
                <a:lnTo>
                  <a:pt x="0" y="16524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2" name="TextBox 62"/>
          <p:cNvSpPr txBox="1"/>
          <p:nvPr/>
        </p:nvSpPr>
        <p:spPr>
          <a:xfrm>
            <a:off x="3846562" y="876300"/>
            <a:ext cx="10594875" cy="1320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42"/>
              </a:lnSpc>
            </a:pPr>
            <a:r>
              <a:rPr lang="en-US" sz="10342" spc="-206" dirty="0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INTRODUCTION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B51FBD-8DC2-30F5-56EF-1FA9148F2348}"/>
              </a:ext>
            </a:extLst>
          </p:cNvPr>
          <p:cNvSpPr txBox="1"/>
          <p:nvPr/>
        </p:nvSpPr>
        <p:spPr>
          <a:xfrm>
            <a:off x="1905000" y="2914606"/>
            <a:ext cx="13944600" cy="611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500"/>
              </a:spcAft>
              <a:buFont typeface="Wingdings" panose="05000000000000000000" pitchFamily="2" charset="2"/>
              <a:buChar char="ü"/>
              <a:defRPr sz="2400"/>
            </a:pPr>
            <a:r>
              <a:rPr lang="en-US" sz="3200" dirty="0"/>
              <a:t>Student dropout is a persistent higher-education challenge with academic, social and economic consequences.</a:t>
            </a:r>
          </a:p>
          <a:p>
            <a:pPr marL="457200" indent="-457200">
              <a:lnSpc>
                <a:spcPct val="150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3200" dirty="0"/>
              <a:t>Dropout prediction uses historical student data to estimate the likelihood that a student may not complete a </a:t>
            </a:r>
            <a:r>
              <a:rPr lang="en-US" sz="3200" dirty="0" err="1"/>
              <a:t>programme</a:t>
            </a:r>
            <a:r>
              <a:rPr lang="en-US" sz="3200" dirty="0"/>
              <a:t>.</a:t>
            </a:r>
          </a:p>
          <a:p>
            <a:pPr marL="457200" indent="-457200">
              <a:lnSpc>
                <a:spcPct val="150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3200" dirty="0"/>
              <a:t>Relevant indicators can include academic performance, educational background, demographic and socioeconomic factors.</a:t>
            </a:r>
          </a:p>
          <a:p>
            <a:pPr marL="457200" indent="-457200">
              <a:lnSpc>
                <a:spcPct val="150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3200" dirty="0"/>
              <a:t>Machine learning can support earlier risk screening by identifying patterns that are difficult to monitor manually at scale.</a:t>
            </a:r>
          </a:p>
        </p:txBody>
      </p:sp>
      <p:pic>
        <p:nvPicPr>
          <p:cNvPr id="4" name="Picture 3" descr="Abubakar Tafawa Balewa University in Nigeria : Reviews &amp; Rankings ...">
            <a:extLst>
              <a:ext uri="{FF2B5EF4-FFF2-40B4-BE49-F238E27FC236}">
                <a16:creationId xmlns:a16="http://schemas.microsoft.com/office/drawing/2014/main" id="{CA524316-EBDC-C542-3D1D-4EE23F239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0500"/>
            <a:ext cx="2590800" cy="2387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16472">
            <a:off x="7283893" y="-1783665"/>
            <a:ext cx="16229080" cy="19701463"/>
          </a:xfrm>
          <a:custGeom>
            <a:avLst/>
            <a:gdLst/>
            <a:ahLst/>
            <a:cxnLst/>
            <a:rect l="l" t="t" r="r" b="b"/>
            <a:pathLst>
              <a:path w="16229080" h="19701463">
                <a:moveTo>
                  <a:pt x="0" y="0"/>
                </a:moveTo>
                <a:lnTo>
                  <a:pt x="16229080" y="0"/>
                </a:lnTo>
                <a:lnTo>
                  <a:pt x="16229080" y="19701463"/>
                </a:lnTo>
                <a:lnTo>
                  <a:pt x="0" y="1970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11850" y="723900"/>
            <a:ext cx="1341875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6600" b="1" dirty="0">
                <a:latin typeface="TT Commons Pro Expanded" panose="020B0604020202020204" charset="0"/>
                <a:ea typeface="+mn-lt"/>
                <a:cs typeface="Times New Roman" panose="02020603050405020304" pitchFamily="18" charset="0"/>
              </a:rPr>
              <a:t>BACKGROUND OF THE STUDY</a:t>
            </a:r>
            <a:endParaRPr lang="en-GB" sz="6600" b="1" dirty="0">
              <a:latin typeface="TT Commons Pro Expande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20BB319-ADD4-72D9-7976-3ECF9BF1094C}"/>
              </a:ext>
            </a:extLst>
          </p:cNvPr>
          <p:cNvSpPr txBox="1">
            <a:spLocks/>
          </p:cNvSpPr>
          <p:nvPr/>
        </p:nvSpPr>
        <p:spPr>
          <a:xfrm>
            <a:off x="2827090" y="1562100"/>
            <a:ext cx="12303552" cy="7975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Student reduction wastes resources and unused human potential.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Non-academic factors contribute more to dropout than academic ones.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Cost of living and ASUU strikes disrupt study momentum.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Current manual monitoring by lecturers is slow.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Scalability is impossible for campuses with over 50,000 students.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Machine learning offers a data-focused early-warning system.</a:t>
            </a:r>
          </a:p>
        </p:txBody>
      </p:sp>
      <p:pic>
        <p:nvPicPr>
          <p:cNvPr id="4" name="Picture 3" descr="Abubakar Tafawa Balewa University in Nigeria : Reviews &amp; Rankings ...">
            <a:extLst>
              <a:ext uri="{FF2B5EF4-FFF2-40B4-BE49-F238E27FC236}">
                <a16:creationId xmlns:a16="http://schemas.microsoft.com/office/drawing/2014/main" id="{F3C58940-A256-113F-6012-1A29B62B9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0500"/>
            <a:ext cx="2590800" cy="2387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71751" y="4439821"/>
            <a:ext cx="11405723" cy="13035112"/>
          </a:xfrm>
          <a:custGeom>
            <a:avLst/>
            <a:gdLst/>
            <a:ahLst/>
            <a:cxnLst/>
            <a:rect l="l" t="t" r="r" b="b"/>
            <a:pathLst>
              <a:path w="11405723" h="13035112">
                <a:moveTo>
                  <a:pt x="0" y="0"/>
                </a:moveTo>
                <a:lnTo>
                  <a:pt x="11405723" y="0"/>
                </a:lnTo>
                <a:lnTo>
                  <a:pt x="11405723" y="13035111"/>
                </a:lnTo>
                <a:lnTo>
                  <a:pt x="0" y="13035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655555" y="-4585540"/>
            <a:ext cx="11405723" cy="13035112"/>
          </a:xfrm>
          <a:custGeom>
            <a:avLst/>
            <a:gdLst/>
            <a:ahLst/>
            <a:cxnLst/>
            <a:rect l="l" t="t" r="r" b="b"/>
            <a:pathLst>
              <a:path w="11405723" h="13035112">
                <a:moveTo>
                  <a:pt x="0" y="0"/>
                </a:moveTo>
                <a:lnTo>
                  <a:pt x="11405723" y="0"/>
                </a:lnTo>
                <a:lnTo>
                  <a:pt x="11405723" y="13035112"/>
                </a:lnTo>
                <a:lnTo>
                  <a:pt x="0" y="1303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550644" y="622226"/>
            <a:ext cx="15813556" cy="12368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42"/>
              </a:lnSpc>
            </a:pPr>
            <a:r>
              <a:rPr lang="en-US" sz="8000" spc="-206" dirty="0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45311" y="6282690"/>
            <a:ext cx="5305272" cy="1398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/>
              <a:t>Manual observation is slow and fails to scale effectively.</a:t>
            </a:r>
            <a:endParaRPr lang="en-US" sz="2800" dirty="0">
              <a:solidFill>
                <a:srgbClr val="000000"/>
              </a:solidFill>
              <a:latin typeface="TT Commons Pro Expanded"/>
              <a:ea typeface="TT Commons Pro Expanded"/>
              <a:cs typeface="TT Commons Pro Expanded"/>
              <a:sym typeface="TT Commons Pro Expande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450734" y="6282691"/>
            <a:ext cx="5305272" cy="2137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/>
              <a:t>Limited research on dropout prediction in developing countries.</a:t>
            </a:r>
            <a:endParaRPr lang="en-US" sz="2800" dirty="0">
              <a:solidFill>
                <a:srgbClr val="000000"/>
              </a:solidFill>
              <a:latin typeface="TT Commons Pro Expanded"/>
              <a:ea typeface="TT Commons Pro Expanded"/>
              <a:cs typeface="TT Commons Pro Expanded"/>
              <a:sym typeface="TT Commons Pro Expanded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940E90F-B7C2-020F-7646-53E1A0BAE6DF}"/>
              </a:ext>
            </a:extLst>
          </p:cNvPr>
          <p:cNvSpPr txBox="1"/>
          <p:nvPr/>
        </p:nvSpPr>
        <p:spPr>
          <a:xfrm>
            <a:off x="2445311" y="3310891"/>
            <a:ext cx="5305272" cy="2137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/>
              <a:t>Lack of automated systems to predict dropout risks accurately.</a:t>
            </a:r>
            <a:endParaRPr lang="en-US" sz="2800" dirty="0">
              <a:solidFill>
                <a:srgbClr val="000000"/>
              </a:solidFill>
              <a:latin typeface="TT Commons Pro Expanded"/>
              <a:ea typeface="TT Commons Pro Expanded"/>
              <a:cs typeface="TT Commons Pro Expanded"/>
              <a:sym typeface="TT Commons Pro Expande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11BF0958-7D4B-5A60-CCC1-0D6C16C14DD6}"/>
              </a:ext>
            </a:extLst>
          </p:cNvPr>
          <p:cNvSpPr txBox="1"/>
          <p:nvPr/>
        </p:nvSpPr>
        <p:spPr>
          <a:xfrm>
            <a:off x="10468128" y="3310891"/>
            <a:ext cx="5305272" cy="2137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/>
              <a:t>Interventions occur too late, usually after academic damage is done</a:t>
            </a:r>
            <a:endParaRPr lang="en-US" sz="2800" dirty="0">
              <a:solidFill>
                <a:srgbClr val="000000"/>
              </a:solidFill>
              <a:latin typeface="TT Commons Pro Expanded"/>
              <a:ea typeface="TT Commons Pro Expanded"/>
              <a:cs typeface="TT Commons Pro Expanded"/>
              <a:sym typeface="TT Commons Pro Expanded"/>
            </a:endParaRPr>
          </a:p>
        </p:txBody>
      </p:sp>
      <p:pic>
        <p:nvPicPr>
          <p:cNvPr id="5" name="Picture 4" descr="Abubakar Tafawa Balewa University in Nigeria : Reviews &amp; Rankings ...">
            <a:extLst>
              <a:ext uri="{FF2B5EF4-FFF2-40B4-BE49-F238E27FC236}">
                <a16:creationId xmlns:a16="http://schemas.microsoft.com/office/drawing/2014/main" id="{76EA3D42-FD6C-3C5C-B17E-D5E79A91C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90500"/>
            <a:ext cx="2590800" cy="2387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C9D44BF-2389-91D6-CF0B-5B561CF78D41}"/>
              </a:ext>
            </a:extLst>
          </p:cNvPr>
          <p:cNvSpPr/>
          <p:nvPr/>
        </p:nvSpPr>
        <p:spPr>
          <a:xfrm rot="2016472">
            <a:off x="12138332" y="3535728"/>
            <a:ext cx="8142234" cy="9884351"/>
          </a:xfrm>
          <a:custGeom>
            <a:avLst/>
            <a:gdLst/>
            <a:ahLst/>
            <a:cxnLst/>
            <a:rect l="l" t="t" r="r" b="b"/>
            <a:pathLst>
              <a:path w="8142234" h="9884351">
                <a:moveTo>
                  <a:pt x="0" y="0"/>
                </a:moveTo>
                <a:lnTo>
                  <a:pt x="8142234" y="0"/>
                </a:lnTo>
                <a:lnTo>
                  <a:pt x="8142234" y="9884351"/>
                </a:lnTo>
                <a:lnTo>
                  <a:pt x="0" y="9884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2D49D879-CE2C-0727-1B00-D0DA882944FD}"/>
              </a:ext>
            </a:extLst>
          </p:cNvPr>
          <p:cNvSpPr/>
          <p:nvPr/>
        </p:nvSpPr>
        <p:spPr>
          <a:xfrm rot="1819234">
            <a:off x="-2311890" y="-3354383"/>
            <a:ext cx="8825839" cy="10086673"/>
          </a:xfrm>
          <a:custGeom>
            <a:avLst/>
            <a:gdLst/>
            <a:ahLst/>
            <a:cxnLst/>
            <a:rect l="l" t="t" r="r" b="b"/>
            <a:pathLst>
              <a:path w="8825839" h="10086673">
                <a:moveTo>
                  <a:pt x="0" y="0"/>
                </a:moveTo>
                <a:lnTo>
                  <a:pt x="8825839" y="0"/>
                </a:lnTo>
                <a:lnTo>
                  <a:pt x="8825839" y="10086672"/>
                </a:lnTo>
                <a:lnTo>
                  <a:pt x="0" y="10086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59B052-8534-A174-EB2C-65286455F130}"/>
              </a:ext>
            </a:extLst>
          </p:cNvPr>
          <p:cNvSpPr txBox="1"/>
          <p:nvPr/>
        </p:nvSpPr>
        <p:spPr>
          <a:xfrm>
            <a:off x="2209800" y="2457950"/>
            <a:ext cx="13792200" cy="7105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spcAft>
                <a:spcPts val="500"/>
              </a:spcAft>
              <a:buFont typeface="Wingdings" panose="05000000000000000000" pitchFamily="2" charset="2"/>
              <a:buChar char="ü"/>
              <a:defRPr sz="2400"/>
            </a:pPr>
            <a:r>
              <a:rPr lang="en-US" sz="3200" dirty="0"/>
              <a:t>Support earlier identification of students who may require attention</a:t>
            </a:r>
          </a:p>
          <a:p>
            <a:pPr marL="457200" indent="-457200">
              <a:lnSpc>
                <a:spcPct val="200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3200" dirty="0"/>
              <a:t>Demonstrate a practical application of machine learning to an educational problem.</a:t>
            </a:r>
          </a:p>
          <a:p>
            <a:pPr marL="457200" indent="-457200">
              <a:lnSpc>
                <a:spcPct val="200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3200" dirty="0"/>
              <a:t>Provides a functional prototype for academic advisers and student affairs.</a:t>
            </a:r>
          </a:p>
          <a:p>
            <a:pPr marL="457200" indent="-457200">
              <a:lnSpc>
                <a:spcPct val="200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3200" dirty="0"/>
              <a:t>Extends theoretical research by deploying an accessible web-based interface..</a:t>
            </a:r>
          </a:p>
          <a:p>
            <a:pPr marL="457200" indent="-457200">
              <a:lnSpc>
                <a:spcPct val="200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3200" dirty="0"/>
              <a:t>Create a foundation for future validation with Nigerian institutional data and integration with university information systems.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D326846-F033-858C-EEB7-C55E1D4EBE7A}"/>
              </a:ext>
            </a:extLst>
          </p:cNvPr>
          <p:cNvSpPr txBox="1"/>
          <p:nvPr/>
        </p:nvSpPr>
        <p:spPr>
          <a:xfrm>
            <a:off x="4035763" y="876300"/>
            <a:ext cx="8841255" cy="1320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42"/>
              </a:lnSpc>
            </a:pPr>
            <a:r>
              <a:rPr lang="en-US" sz="8800" spc="-206" dirty="0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MOTIVATION</a:t>
            </a:r>
          </a:p>
        </p:txBody>
      </p:sp>
      <p:pic>
        <p:nvPicPr>
          <p:cNvPr id="4" name="Picture 3" descr="Abubakar Tafawa Balewa University in Nigeria : Reviews &amp; Rankings ...">
            <a:extLst>
              <a:ext uri="{FF2B5EF4-FFF2-40B4-BE49-F238E27FC236}">
                <a16:creationId xmlns:a16="http://schemas.microsoft.com/office/drawing/2014/main" id="{8E380217-E39D-FBA5-BE1F-F44FE1BEA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90500"/>
            <a:ext cx="2590800" cy="23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804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16472">
            <a:off x="12138332" y="3535728"/>
            <a:ext cx="8142234" cy="9884351"/>
          </a:xfrm>
          <a:custGeom>
            <a:avLst/>
            <a:gdLst/>
            <a:ahLst/>
            <a:cxnLst/>
            <a:rect l="l" t="t" r="r" b="b"/>
            <a:pathLst>
              <a:path w="8142234" h="9884351">
                <a:moveTo>
                  <a:pt x="0" y="0"/>
                </a:moveTo>
                <a:lnTo>
                  <a:pt x="8142234" y="0"/>
                </a:lnTo>
                <a:lnTo>
                  <a:pt x="8142234" y="9884351"/>
                </a:lnTo>
                <a:lnTo>
                  <a:pt x="0" y="9884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819234">
            <a:off x="-2311890" y="-3354383"/>
            <a:ext cx="8825839" cy="10086673"/>
          </a:xfrm>
          <a:custGeom>
            <a:avLst/>
            <a:gdLst/>
            <a:ahLst/>
            <a:cxnLst/>
            <a:rect l="l" t="t" r="r" b="b"/>
            <a:pathLst>
              <a:path w="8825839" h="10086673">
                <a:moveTo>
                  <a:pt x="0" y="0"/>
                </a:moveTo>
                <a:lnTo>
                  <a:pt x="8825839" y="0"/>
                </a:lnTo>
                <a:lnTo>
                  <a:pt x="8825839" y="10086672"/>
                </a:lnTo>
                <a:lnTo>
                  <a:pt x="0" y="10086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062677" y="850826"/>
            <a:ext cx="12710723" cy="1320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42"/>
              </a:lnSpc>
            </a:pPr>
            <a:r>
              <a:rPr lang="en-US" sz="9600" spc="-206" dirty="0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AIM &amp; 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99081" y="3738161"/>
            <a:ext cx="5336041" cy="4020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4000" dirty="0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AIM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89D4DF43-4D92-7CCA-CC77-F17E9947B180}"/>
              </a:ext>
            </a:extLst>
          </p:cNvPr>
          <p:cNvSpPr txBox="1"/>
          <p:nvPr/>
        </p:nvSpPr>
        <p:spPr>
          <a:xfrm>
            <a:off x="10906166" y="3543300"/>
            <a:ext cx="5781634" cy="389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3600" dirty="0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OBJECTIVES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EDFA962B-7516-11E1-2DA8-259F926E6EAA}"/>
              </a:ext>
            </a:extLst>
          </p:cNvPr>
          <p:cNvSpPr txBox="1"/>
          <p:nvPr/>
        </p:nvSpPr>
        <p:spPr>
          <a:xfrm>
            <a:off x="9144000" y="4416634"/>
            <a:ext cx="7543800" cy="4446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Analyze factors associated with student dropout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feature selection to identify the most significant risk variables.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three machine learning classifiers (LR, RF, and SVM).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 and deploy the system using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1E53746B-EA21-6790-7334-9FC43092483E}"/>
              </a:ext>
            </a:extLst>
          </p:cNvPr>
          <p:cNvSpPr txBox="1"/>
          <p:nvPr/>
        </p:nvSpPr>
        <p:spPr>
          <a:xfrm>
            <a:off x="1840244" y="4582860"/>
            <a:ext cx="6616147" cy="3801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Aft>
                <a:spcPts val="500"/>
              </a:spcAft>
              <a:defRPr sz="2400"/>
            </a:pPr>
            <a:r>
              <a:rPr lang="en-US" sz="3200" dirty="0"/>
              <a:t>To design, implement and deploy a machine-learning-based system for predicting student dropout risk through a user-friendly web application.</a:t>
            </a:r>
          </a:p>
        </p:txBody>
      </p:sp>
      <p:pic>
        <p:nvPicPr>
          <p:cNvPr id="5" name="Picture 4" descr="Abubakar Tafawa Balewa University in Nigeria : Reviews &amp; Rankings ...">
            <a:extLst>
              <a:ext uri="{FF2B5EF4-FFF2-40B4-BE49-F238E27FC236}">
                <a16:creationId xmlns:a16="http://schemas.microsoft.com/office/drawing/2014/main" id="{94A2D703-4C27-4B98-AB7A-68D1A0699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90500"/>
            <a:ext cx="2590800" cy="2387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701123">
            <a:off x="-6511769" y="151390"/>
            <a:ext cx="16229080" cy="19701463"/>
          </a:xfrm>
          <a:custGeom>
            <a:avLst/>
            <a:gdLst/>
            <a:ahLst/>
            <a:cxnLst/>
            <a:rect l="l" t="t" r="r" b="b"/>
            <a:pathLst>
              <a:path w="16229080" h="19701463">
                <a:moveTo>
                  <a:pt x="0" y="0"/>
                </a:moveTo>
                <a:lnTo>
                  <a:pt x="16229080" y="0"/>
                </a:lnTo>
                <a:lnTo>
                  <a:pt x="16229080" y="19701463"/>
                </a:lnTo>
                <a:lnTo>
                  <a:pt x="0" y="1970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8701123">
            <a:off x="9046121" y="-12286961"/>
            <a:ext cx="16229080" cy="19701463"/>
          </a:xfrm>
          <a:custGeom>
            <a:avLst/>
            <a:gdLst/>
            <a:ahLst/>
            <a:cxnLst/>
            <a:rect l="l" t="t" r="r" b="b"/>
            <a:pathLst>
              <a:path w="16229080" h="19701463">
                <a:moveTo>
                  <a:pt x="0" y="0"/>
                </a:moveTo>
                <a:lnTo>
                  <a:pt x="16229080" y="0"/>
                </a:lnTo>
                <a:lnTo>
                  <a:pt x="16229080" y="19701463"/>
                </a:lnTo>
                <a:lnTo>
                  <a:pt x="0" y="1970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92099" y="774626"/>
            <a:ext cx="15214901" cy="1320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42"/>
              </a:lnSpc>
            </a:pPr>
            <a:r>
              <a:rPr lang="en-US" sz="8800" spc="-206" dirty="0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SCOPE &amp; LIMITATIONS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92413" y="2857500"/>
            <a:ext cx="2509369" cy="377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200" b="1" dirty="0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SCOPE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2771" y="3707911"/>
            <a:ext cx="6931629" cy="50931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the full ML pipeline from preprocessing to web deployment.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three classification algorithms for comparative performance.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fields are specifically adapted to the Nigerian university context.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Categories: "Likely to Graduate" or "At Risk of Dropout."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78655" y="3555511"/>
            <a:ext cx="6180645" cy="5093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Reliance on UCI Portuguese dataset due to local data privacy constraints.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predicts dropout after the first year, not at admission point.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features like semester results are only available after Year 1.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 hosting limits concurrent users and available memory.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2343B0FE-220B-965A-685B-0061086422BD}"/>
              </a:ext>
            </a:extLst>
          </p:cNvPr>
          <p:cNvSpPr txBox="1"/>
          <p:nvPr/>
        </p:nvSpPr>
        <p:spPr>
          <a:xfrm>
            <a:off x="11728416" y="2857500"/>
            <a:ext cx="3115607" cy="377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200" b="1" dirty="0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LIMITATIONS</a:t>
            </a:r>
          </a:p>
        </p:txBody>
      </p:sp>
      <p:pic>
        <p:nvPicPr>
          <p:cNvPr id="5" name="Picture 4" descr="Abubakar Tafawa Balewa University in Nigeria : Reviews &amp; Rankings ...">
            <a:extLst>
              <a:ext uri="{FF2B5EF4-FFF2-40B4-BE49-F238E27FC236}">
                <a16:creationId xmlns:a16="http://schemas.microsoft.com/office/drawing/2014/main" id="{8B6334C0-CACD-2D0B-90B4-8213089C7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0500"/>
            <a:ext cx="2590800" cy="2387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19234">
            <a:off x="-3412284" y="-2817076"/>
            <a:ext cx="11909285" cy="13610612"/>
          </a:xfrm>
          <a:custGeom>
            <a:avLst/>
            <a:gdLst/>
            <a:ahLst/>
            <a:cxnLst/>
            <a:rect l="l" t="t" r="r" b="b"/>
            <a:pathLst>
              <a:path w="11909285" h="13610612">
                <a:moveTo>
                  <a:pt x="0" y="0"/>
                </a:moveTo>
                <a:lnTo>
                  <a:pt x="11909285" y="0"/>
                </a:lnTo>
                <a:lnTo>
                  <a:pt x="11909285" y="13610612"/>
                </a:lnTo>
                <a:lnTo>
                  <a:pt x="0" y="13610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016472">
            <a:off x="13650289" y="5351725"/>
            <a:ext cx="6436082" cy="7813150"/>
          </a:xfrm>
          <a:custGeom>
            <a:avLst/>
            <a:gdLst/>
            <a:ahLst/>
            <a:cxnLst/>
            <a:rect l="l" t="t" r="r" b="b"/>
            <a:pathLst>
              <a:path w="6436082" h="7813150">
                <a:moveTo>
                  <a:pt x="0" y="0"/>
                </a:moveTo>
                <a:lnTo>
                  <a:pt x="6436082" y="0"/>
                </a:lnTo>
                <a:lnTo>
                  <a:pt x="6436082" y="7813150"/>
                </a:lnTo>
                <a:lnTo>
                  <a:pt x="0" y="7813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19400" y="386778"/>
            <a:ext cx="14859000" cy="1175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42"/>
              </a:lnSpc>
            </a:pPr>
            <a:r>
              <a:rPr lang="en-US" sz="6000" spc="-206" dirty="0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PROPOSED SYSTEM/METHODOLOGY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7E570A-D169-F7C7-2D1D-2F7E1B1F7D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12" y="1587500"/>
            <a:ext cx="8708988" cy="7670800"/>
          </a:xfrm>
          <a:prstGeom prst="rect">
            <a:avLst/>
          </a:prstGeom>
        </p:spPr>
      </p:pic>
      <p:pic>
        <p:nvPicPr>
          <p:cNvPr id="15" name="image3.png">
            <a:extLst>
              <a:ext uri="{FF2B5EF4-FFF2-40B4-BE49-F238E27FC236}">
                <a16:creationId xmlns:a16="http://schemas.microsoft.com/office/drawing/2014/main" id="{993C9E4E-858E-1FB7-4C2E-AD321B84F50B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9613514" y="1993900"/>
            <a:ext cx="7150486" cy="7264400"/>
          </a:xfrm>
          <a:prstGeom prst="rect">
            <a:avLst/>
          </a:prstGeom>
          <a:ln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6C946F9-EAAF-F6DD-421A-2EBFDAEC05EF}"/>
              </a:ext>
            </a:extLst>
          </p:cNvPr>
          <p:cNvSpPr txBox="1"/>
          <p:nvPr/>
        </p:nvSpPr>
        <p:spPr>
          <a:xfrm>
            <a:off x="10591800" y="9193768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Figure 5.2: Use Case Diagram of the Proposed System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CCEC51-7174-6375-7630-78925BBB1646}"/>
              </a:ext>
            </a:extLst>
          </p:cNvPr>
          <p:cNvSpPr txBox="1"/>
          <p:nvPr/>
        </p:nvSpPr>
        <p:spPr>
          <a:xfrm>
            <a:off x="2590800" y="92583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Figure 5.1: Proposed System Architecture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Abubakar Tafawa Balewa University in Nigeria : Reviews &amp; Rankings ...">
            <a:extLst>
              <a:ext uri="{FF2B5EF4-FFF2-40B4-BE49-F238E27FC236}">
                <a16:creationId xmlns:a16="http://schemas.microsoft.com/office/drawing/2014/main" id="{AC8CAA90-A6C2-D779-9573-6A8BADA324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190500"/>
            <a:ext cx="2590800" cy="2387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4856586">
            <a:off x="10448178" y="1853782"/>
            <a:ext cx="13622244" cy="16536867"/>
          </a:xfrm>
          <a:custGeom>
            <a:avLst/>
            <a:gdLst/>
            <a:ahLst/>
            <a:cxnLst/>
            <a:rect l="l" t="t" r="r" b="b"/>
            <a:pathLst>
              <a:path w="13622244" h="16536867">
                <a:moveTo>
                  <a:pt x="0" y="0"/>
                </a:moveTo>
                <a:lnTo>
                  <a:pt x="13622244" y="0"/>
                </a:lnTo>
                <a:lnTo>
                  <a:pt x="13622244" y="16536866"/>
                </a:lnTo>
                <a:lnTo>
                  <a:pt x="0" y="16536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66800" y="266700"/>
            <a:ext cx="15697200" cy="1193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0342"/>
              </a:lnSpc>
            </a:pPr>
            <a:r>
              <a:rPr lang="en-US" sz="6000" spc="-206" dirty="0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PROPOSED SYSTEM/METHODOLOGY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E9B2589-C496-A87A-6C1D-CA74A550A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790700"/>
            <a:ext cx="10972800" cy="723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D6512D5-AAAF-9553-001C-6110EBD62B4B}"/>
              </a:ext>
            </a:extLst>
          </p:cNvPr>
          <p:cNvSpPr txBox="1"/>
          <p:nvPr/>
        </p:nvSpPr>
        <p:spPr>
          <a:xfrm>
            <a:off x="9144000" y="925830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Figure 5.3: Flowchart of the Project Methodology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9466D-088D-23F0-CF27-16A7BB2701B9}"/>
              </a:ext>
            </a:extLst>
          </p:cNvPr>
          <p:cNvSpPr txBox="1"/>
          <p:nvPr/>
        </p:nvSpPr>
        <p:spPr>
          <a:xfrm>
            <a:off x="2362200" y="3010429"/>
            <a:ext cx="5791200" cy="4876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/>
              <a:t>SDLC Model:</a:t>
            </a:r>
            <a:r>
              <a:rPr lang="en-US" sz="3200" dirty="0"/>
              <a:t> Waterfall Model</a:t>
            </a:r>
            <a:br>
              <a:rPr lang="en-US" sz="3200" dirty="0"/>
            </a:br>
            <a:r>
              <a:rPr lang="en-US" sz="3200" b="1" dirty="0"/>
              <a:t>ML Methodology:</a:t>
            </a:r>
            <a:r>
              <a:rPr lang="en-US" sz="3200" dirty="0"/>
              <a:t> KDD-inspired process</a:t>
            </a:r>
            <a:br>
              <a:rPr lang="en-US" sz="3200" dirty="0"/>
            </a:br>
            <a:r>
              <a:rPr lang="en-US" sz="3200" b="1" dirty="0"/>
              <a:t>Learning Task:</a:t>
            </a:r>
            <a:r>
              <a:rPr lang="en-US" sz="3200" dirty="0"/>
              <a:t> Supervised binary classification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bubakar Tafawa Balewa University in Nigeria : Reviews &amp; Rankings ...">
            <a:extLst>
              <a:ext uri="{FF2B5EF4-FFF2-40B4-BE49-F238E27FC236}">
                <a16:creationId xmlns:a16="http://schemas.microsoft.com/office/drawing/2014/main" id="{95CDC28A-1C33-AA8B-CDD9-151CCBD49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90500"/>
            <a:ext cx="2590800" cy="2387440"/>
          </a:xfrm>
          <a:prstGeom prst="rect">
            <a:avLst/>
          </a:prstGeom>
        </p:spPr>
      </p:pic>
      <p:sp>
        <p:nvSpPr>
          <p:cNvPr id="8" name="Freeform 2">
            <a:extLst>
              <a:ext uri="{FF2B5EF4-FFF2-40B4-BE49-F238E27FC236}">
                <a16:creationId xmlns:a16="http://schemas.microsoft.com/office/drawing/2014/main" id="{03130CB3-701E-A382-ECAA-E563F873C2E4}"/>
              </a:ext>
            </a:extLst>
          </p:cNvPr>
          <p:cNvSpPr/>
          <p:nvPr/>
        </p:nvSpPr>
        <p:spPr>
          <a:xfrm rot="8701123">
            <a:off x="-6511769" y="151390"/>
            <a:ext cx="16229080" cy="19701463"/>
          </a:xfrm>
          <a:custGeom>
            <a:avLst/>
            <a:gdLst/>
            <a:ahLst/>
            <a:cxnLst/>
            <a:rect l="l" t="t" r="r" b="b"/>
            <a:pathLst>
              <a:path w="16229080" h="19701463">
                <a:moveTo>
                  <a:pt x="0" y="0"/>
                </a:moveTo>
                <a:lnTo>
                  <a:pt x="16229080" y="0"/>
                </a:lnTo>
                <a:lnTo>
                  <a:pt x="16229080" y="19701463"/>
                </a:lnTo>
                <a:lnTo>
                  <a:pt x="0" y="1970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8797361">
            <a:off x="9977576" y="-3899328"/>
            <a:ext cx="9922408" cy="11339895"/>
          </a:xfrm>
          <a:custGeom>
            <a:avLst/>
            <a:gdLst/>
            <a:ahLst/>
            <a:cxnLst/>
            <a:rect l="l" t="t" r="r" b="b"/>
            <a:pathLst>
              <a:path w="9922408" h="11339895">
                <a:moveTo>
                  <a:pt x="0" y="0"/>
                </a:moveTo>
                <a:lnTo>
                  <a:pt x="9922408" y="0"/>
                </a:lnTo>
                <a:lnTo>
                  <a:pt x="9922408" y="11339895"/>
                </a:lnTo>
                <a:lnTo>
                  <a:pt x="0" y="11339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81300" y="647700"/>
            <a:ext cx="14897100" cy="1320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42"/>
              </a:lnSpc>
            </a:pPr>
            <a:r>
              <a:rPr lang="en-US" sz="8800" spc="-206" dirty="0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EXPECTED RESULTS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25391E-37BF-A84D-5D08-0DF20E55EDF8}"/>
              </a:ext>
            </a:extLst>
          </p:cNvPr>
          <p:cNvSpPr txBox="1"/>
          <p:nvPr/>
        </p:nvSpPr>
        <p:spPr>
          <a:xfrm>
            <a:off x="2971800" y="2582985"/>
            <a:ext cx="11106614" cy="591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dataset with approximately 24 highly predictive features.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trained models with documented performance comparisons.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for real-time risk assessment.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Feature-importance charts to explain model decision logic.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GitHub repository for reproducibility and future extension.</a:t>
            </a:r>
          </a:p>
        </p:txBody>
      </p:sp>
      <p:pic>
        <p:nvPicPr>
          <p:cNvPr id="4" name="Picture 3" descr="Abubakar Tafawa Balewa University in Nigeria : Reviews &amp; Rankings ...">
            <a:extLst>
              <a:ext uri="{FF2B5EF4-FFF2-40B4-BE49-F238E27FC236}">
                <a16:creationId xmlns:a16="http://schemas.microsoft.com/office/drawing/2014/main" id="{261E27B5-029D-4736-79C2-BAA47B59C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0500"/>
            <a:ext cx="2590800" cy="2387440"/>
          </a:xfrm>
          <a:prstGeom prst="rect">
            <a:avLst/>
          </a:prstGeom>
        </p:spPr>
      </p:pic>
      <p:sp>
        <p:nvSpPr>
          <p:cNvPr id="7" name="Freeform 2">
            <a:extLst>
              <a:ext uri="{FF2B5EF4-FFF2-40B4-BE49-F238E27FC236}">
                <a16:creationId xmlns:a16="http://schemas.microsoft.com/office/drawing/2014/main" id="{048A8C38-732E-62BB-FC21-335357D3B839}"/>
              </a:ext>
            </a:extLst>
          </p:cNvPr>
          <p:cNvSpPr/>
          <p:nvPr/>
        </p:nvSpPr>
        <p:spPr>
          <a:xfrm rot="8701123">
            <a:off x="-6511769" y="151390"/>
            <a:ext cx="16229080" cy="19701463"/>
          </a:xfrm>
          <a:custGeom>
            <a:avLst/>
            <a:gdLst/>
            <a:ahLst/>
            <a:cxnLst/>
            <a:rect l="l" t="t" r="r" b="b"/>
            <a:pathLst>
              <a:path w="16229080" h="19701463">
                <a:moveTo>
                  <a:pt x="0" y="0"/>
                </a:moveTo>
                <a:lnTo>
                  <a:pt x="16229080" y="0"/>
                </a:lnTo>
                <a:lnTo>
                  <a:pt x="16229080" y="19701463"/>
                </a:lnTo>
                <a:lnTo>
                  <a:pt x="0" y="197014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2B96E5-93F9-94EB-908B-E8DAF95881C9}"/>
              </a:ext>
            </a:extLst>
          </p:cNvPr>
          <p:cNvSpPr txBox="1"/>
          <p:nvPr/>
        </p:nvSpPr>
        <p:spPr>
          <a:xfrm>
            <a:off x="5257800" y="419100"/>
            <a:ext cx="9144000" cy="1329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42"/>
              </a:lnSpc>
            </a:pPr>
            <a:r>
              <a:rPr lang="en-US" sz="8000" spc="-206" dirty="0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WORK PLAN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59817D-FD19-15E4-FCD1-296E63F90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21882"/>
              </p:ext>
            </p:extLst>
          </p:nvPr>
        </p:nvGraphicFramePr>
        <p:xfrm>
          <a:off x="1828800" y="1944990"/>
          <a:ext cx="15449294" cy="7846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5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3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3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4671">
                <a:tc>
                  <a:txBody>
                    <a:bodyPr/>
                    <a:lstStyle/>
                    <a:p>
                      <a:pPr algn="l"/>
                      <a:r>
                        <a:rPr sz="2000" b="1" dirty="0"/>
                        <a:t>Activity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/>
                        <a:t>April</a:t>
                      </a:r>
                      <a:endParaRPr sz="2100" b="1" dirty="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/>
                        <a:t>May</a:t>
                      </a:r>
                      <a:endParaRPr sz="2100" b="1" dirty="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/>
                        <a:t>June</a:t>
                      </a:r>
                      <a:endParaRPr sz="2100" b="1" dirty="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/>
                        <a:t>July</a:t>
                      </a:r>
                      <a:endParaRPr sz="2100" b="1" dirty="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/>
                        <a:t>August</a:t>
                      </a:r>
                      <a:endParaRPr sz="2100" b="1" dirty="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/>
                        <a:t>Sept.</a:t>
                      </a:r>
                      <a:endParaRPr sz="2100" b="1" dirty="0"/>
                    </a:p>
                  </a:txBody>
                  <a:tcPr marL="72655" marR="72655" marT="48436" marB="484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671">
                <a:tc>
                  <a:txBody>
                    <a:bodyPr/>
                    <a:lstStyle/>
                    <a:p>
                      <a:pPr algn="l"/>
                      <a:r>
                        <a:rPr sz="2000"/>
                        <a:t>Proposal writing &amp; approval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●</a:t>
                      </a:r>
                      <a:endParaRPr sz="2100" dirty="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671">
                <a:tc>
                  <a:txBody>
                    <a:bodyPr/>
                    <a:lstStyle/>
                    <a:p>
                      <a:pPr algn="l"/>
                      <a:r>
                        <a:rPr sz="2000"/>
                        <a:t>Literature review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671">
                <a:tc>
                  <a:txBody>
                    <a:bodyPr/>
                    <a:lstStyle/>
                    <a:p>
                      <a:pPr algn="l"/>
                      <a:r>
                        <a:rPr sz="2000" dirty="0"/>
                        <a:t>Data collection &amp; cleaning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671">
                <a:tc>
                  <a:txBody>
                    <a:bodyPr/>
                    <a:lstStyle/>
                    <a:p>
                      <a:pPr algn="l"/>
                      <a:r>
                        <a:rPr sz="2000"/>
                        <a:t>Feature selection &amp; preprocessing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 dirty="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4671">
                <a:tc>
                  <a:txBody>
                    <a:bodyPr/>
                    <a:lstStyle/>
                    <a:p>
                      <a:pPr algn="l"/>
                      <a:r>
                        <a:rPr sz="2000"/>
                        <a:t>Model training &amp; comparison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4671">
                <a:tc>
                  <a:txBody>
                    <a:bodyPr/>
                    <a:lstStyle/>
                    <a:p>
                      <a:pPr algn="l"/>
                      <a:r>
                        <a:rPr sz="2000"/>
                        <a:t>Streamlit web app development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4671">
                <a:tc>
                  <a:txBody>
                    <a:bodyPr/>
                    <a:lstStyle/>
                    <a:p>
                      <a:pPr algn="l"/>
                      <a:r>
                        <a:rPr sz="2000"/>
                        <a:t>System testing &amp; evaluation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84671">
                <a:tc>
                  <a:txBody>
                    <a:bodyPr/>
                    <a:lstStyle/>
                    <a:p>
                      <a:pPr algn="l"/>
                      <a:r>
                        <a:rPr sz="2000"/>
                        <a:t>Documentation &amp; write-up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/>
                        <a:t>●</a:t>
                      </a:r>
                    </a:p>
                  </a:txBody>
                  <a:tcPr marL="72655" marR="72655" marT="48436" marB="4843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84671">
                <a:tc>
                  <a:txBody>
                    <a:bodyPr/>
                    <a:lstStyle/>
                    <a:p>
                      <a:pPr algn="l"/>
                      <a:r>
                        <a:rPr sz="2000"/>
                        <a:t>Final defense preparation</a:t>
                      </a:r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endParaRPr sz="3400"/>
                    </a:p>
                  </a:txBody>
                  <a:tcPr marL="72655" marR="72655" marT="48436" marB="48436"/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dirty="0"/>
                        <a:t>●</a:t>
                      </a:r>
                    </a:p>
                  </a:txBody>
                  <a:tcPr marL="72655" marR="72655" marT="48436" marB="4843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" name="Picture 3" descr="Abubakar Tafawa Balewa University in Nigeria : Reviews &amp; Rankings ...">
            <a:extLst>
              <a:ext uri="{FF2B5EF4-FFF2-40B4-BE49-F238E27FC236}">
                <a16:creationId xmlns:a16="http://schemas.microsoft.com/office/drawing/2014/main" id="{1EC15CC6-6513-58BA-204A-36F406D68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4300"/>
            <a:ext cx="2590800" cy="2387440"/>
          </a:xfrm>
          <a:prstGeom prst="rect">
            <a:avLst/>
          </a:prstGeom>
        </p:spPr>
      </p:pic>
      <p:sp>
        <p:nvSpPr>
          <p:cNvPr id="11" name="Freeform 3">
            <a:extLst>
              <a:ext uri="{FF2B5EF4-FFF2-40B4-BE49-F238E27FC236}">
                <a16:creationId xmlns:a16="http://schemas.microsoft.com/office/drawing/2014/main" id="{B617D6E6-C787-7008-3E39-E0DBBC275AF6}"/>
              </a:ext>
            </a:extLst>
          </p:cNvPr>
          <p:cNvSpPr/>
          <p:nvPr/>
        </p:nvSpPr>
        <p:spPr>
          <a:xfrm rot="16743414">
            <a:off x="10448178" y="1853782"/>
            <a:ext cx="13622244" cy="16536867"/>
          </a:xfrm>
          <a:custGeom>
            <a:avLst/>
            <a:gdLst/>
            <a:ahLst/>
            <a:cxnLst/>
            <a:rect l="l" t="t" r="r" b="b"/>
            <a:pathLst>
              <a:path w="13622244" h="16536867">
                <a:moveTo>
                  <a:pt x="0" y="0"/>
                </a:moveTo>
                <a:lnTo>
                  <a:pt x="13622244" y="0"/>
                </a:lnTo>
                <a:lnTo>
                  <a:pt x="13622244" y="16536866"/>
                </a:lnTo>
                <a:lnTo>
                  <a:pt x="0" y="16536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783266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6832745">
            <a:off x="9993879" y="2959950"/>
            <a:ext cx="11618640" cy="14104571"/>
          </a:xfrm>
          <a:custGeom>
            <a:avLst/>
            <a:gdLst/>
            <a:ahLst/>
            <a:cxnLst/>
            <a:rect l="l" t="t" r="r" b="b"/>
            <a:pathLst>
              <a:path w="11618640" h="14104571">
                <a:moveTo>
                  <a:pt x="0" y="0"/>
                </a:moveTo>
                <a:lnTo>
                  <a:pt x="11618641" y="0"/>
                </a:lnTo>
                <a:lnTo>
                  <a:pt x="11618641" y="14104570"/>
                </a:lnTo>
                <a:lnTo>
                  <a:pt x="0" y="1410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5782422" y="-8574697"/>
            <a:ext cx="13622244" cy="16536867"/>
          </a:xfrm>
          <a:custGeom>
            <a:avLst/>
            <a:gdLst/>
            <a:ahLst/>
            <a:cxnLst/>
            <a:rect l="l" t="t" r="r" b="b"/>
            <a:pathLst>
              <a:path w="13622244" h="16536867">
                <a:moveTo>
                  <a:pt x="0" y="0"/>
                </a:moveTo>
                <a:lnTo>
                  <a:pt x="13622244" y="0"/>
                </a:lnTo>
                <a:lnTo>
                  <a:pt x="13622244" y="16536867"/>
                </a:lnTo>
                <a:lnTo>
                  <a:pt x="0" y="16536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152900" y="419100"/>
            <a:ext cx="12001500" cy="1320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42"/>
              </a:lnSpc>
            </a:pPr>
            <a:r>
              <a:rPr lang="en-US" sz="8800" spc="-206" dirty="0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REFERENCES</a:t>
            </a:r>
            <a:endParaRPr lang="en-US" sz="10342" spc="-206" dirty="0">
              <a:solidFill>
                <a:srgbClr val="000000"/>
              </a:solidFill>
              <a:latin typeface="TT Commons Pro Expanded"/>
              <a:ea typeface="TT Commons Pro Expanded"/>
              <a:cs typeface="TT Commons Pro Expanded"/>
              <a:sym typeface="TT Commons Pro Expande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4BF7C0-7547-493A-1F3F-8549477CF66A}"/>
              </a:ext>
            </a:extLst>
          </p:cNvPr>
          <p:cNvSpPr txBox="1"/>
          <p:nvPr/>
        </p:nvSpPr>
        <p:spPr>
          <a:xfrm>
            <a:off x="1059180" y="2388930"/>
            <a:ext cx="1593342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Alarape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A. (2021). Hybrid models for students' academic performance and dropout prediction using machine learning algorithms [Doctoral dissertation, University of Ilorin]. Department of Computer Science, Faculty of Communication and Information Sciences, University of Ilorin, Nigeria.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Bashiru, S.,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Malgwi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M. (2026). A machine learning-based early warning system for identifying at-risk university students in Nigerian higher education. </a:t>
            </a:r>
            <a:r>
              <a:rPr lang="en-US" sz="200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Mambilla</a:t>
            </a:r>
            <a:r>
              <a:rPr lang="en-US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Journal of Science and the Environment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10(1), 41–46.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Fatima, S., Hussain, A., Bin Amir, S., Awan, M. G. Z., Ahmed, S. H., &amp; Aslam, S. M. H. (2023).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Random Forest algorithms: An in-depth analysis. </a:t>
            </a:r>
            <a:r>
              <a:rPr lang="en-US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Pakistan Journal of Scientific Research (PJOSR)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3(1), 26–31.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Hassan, M. A., Muse, A. H., &amp; Nadarajah, S. (2024). Predicting student dropout rates using supervised machine learning: Insights from the 2022 National Education Accessibility Survey in Somaliland. </a:t>
            </a:r>
            <a:r>
              <a:rPr lang="en-US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Sciences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14(17), 7593.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https://doi.org/10.3390/app14177593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Jiménez, O., Jesús, A., &amp; Wong, L. (2023). Model for the prediction of dropout in higher education in Peru applying machine learning algorithms: Random Forest, Decision Tree, Neural Network and Support Vector Machine. </a:t>
            </a:r>
            <a:r>
              <a:rPr lang="en-US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Proceeding of the 33rd Conference of FRUCT Association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116–124.</a:t>
            </a:r>
          </a:p>
          <a:p>
            <a:pPr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Mduma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Kalegele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K., &amp; Machuve, D. (2019). A survey of machine learning approaches and techniques for student dropout prediction. </a:t>
            </a:r>
            <a:r>
              <a:rPr lang="en-US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Journal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18(1), 14.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https://doi.org/10.5334/dsj-2019-014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Mukooyo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H., &amp; Kasse, J. P. (2024). Towards sustainable education: A machine learning model for early student dropout prediction in higher education institutions. </a:t>
            </a:r>
            <a:r>
              <a:rPr lang="en-US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Uganda Higher Education Review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11(2), 57–68.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https://doi.org/10.58653/nche.v11i2.5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Nicoletti, M. C., &amp; de Oliveira, O. L. (2020). A machine learning-based computational system proposal aiming at higher education dropout prediction. </a:t>
            </a:r>
            <a:r>
              <a:rPr lang="en-US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Education Studies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10(4), 12–24.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https://doi.org/10.5539/hes.v10n4p12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Osemwegie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E., &amp; Amadin, F. I. (2023). Student dropout prediction using machine learning. </a:t>
            </a:r>
            <a:r>
              <a:rPr lang="en-US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FUDMA Journal of Sciences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7(6), 347–353.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https://doi.org/10.33003/fjs-2023-0706-2103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Valkenborg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Rousseau, A. J.,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Geubbelmans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Burzykowski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(2023). Support vector machines. </a:t>
            </a:r>
            <a:r>
              <a:rPr lang="en-US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American Journal of Orthodontics and Dentofacial Orthopedics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164(5), 754–757.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https://doi.org/10.1016/j.ajodo.2023.08.003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Villar, A., &amp; Velini de Andrade, C. R. (2024). Supervised machine learning algorithms for predicting student dropout and academic success: A comparative study. </a:t>
            </a:r>
            <a:r>
              <a:rPr lang="en-US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Discover Artificial Intelligence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4(2).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https://doi.org/10.1007/s44163-023-00079-z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Zhao, Z., &amp; Ren, P. (2025). Random Forest-based early warning system for student dropout using behavioral data. </a:t>
            </a:r>
            <a:r>
              <a:rPr lang="en-US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Bulletin of Education and Psychology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5(5).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https://hal.science/hal-05102483v1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bubakar Tafawa Balewa University in Nigeria : Reviews &amp; Rankings ...">
            <a:extLst>
              <a:ext uri="{FF2B5EF4-FFF2-40B4-BE49-F238E27FC236}">
                <a16:creationId xmlns:a16="http://schemas.microsoft.com/office/drawing/2014/main" id="{B7A0BAE2-5473-C7EC-E4EC-7C6DD7BE31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" y="114300"/>
            <a:ext cx="2590800" cy="238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1172</Words>
  <Application>Microsoft Office PowerPoint</Application>
  <PresentationFormat>Custom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Wingdings</vt:lpstr>
      <vt:lpstr>Calibri</vt:lpstr>
      <vt:lpstr>TT Commons Pro Expanded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Gradient Minimalist Thesis Defense Presentation</dc:title>
  <cp:lastModifiedBy>Joseph Iyimoga</cp:lastModifiedBy>
  <cp:revision>88</cp:revision>
  <dcterms:created xsi:type="dcterms:W3CDTF">2006-08-16T00:00:00Z</dcterms:created>
  <dcterms:modified xsi:type="dcterms:W3CDTF">2026-07-15T08:11:32Z</dcterms:modified>
  <dc:identifier>DAHPD_JYGck</dc:identifier>
</cp:coreProperties>
</file>